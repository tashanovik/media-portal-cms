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Amatic SC"/>
      <p:regular r:id="rId23"/>
      <p:bold r:id="rId24"/>
    </p:embeddedFont>
    <p:embeddedFont>
      <p:font typeface="Source Code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2D90C8-00FB-41F6-AA1B-CAA7EC962E17}">
  <a:tblStyle styleId="{B62D90C8-00FB-41F6-AA1B-CAA7EC962E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maticSC-bold.fntdata"/><Relationship Id="rId23" Type="http://schemas.openxmlformats.org/officeDocument/2006/relationships/font" Target="fonts/AmaticS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2ebafb6a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2ebafb6a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2ebafb6ac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2ebafb6ac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2ebafb6a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2ebafb6a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2ebafb6ac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2ebafb6ac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2ebafb6a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2ebafb6a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2ebafb6ac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2ebafb6ac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ebafb6ac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2ebafb6ac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ebafb6ac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2ebafb6a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2ebafb6ac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2ebafb6ac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2ebafb6a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2ebafb6a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f5c9d11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f5c9d11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ebafb6a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2ebafb6a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2ebafb6a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2ebafb6a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2ebafb6ac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2ebafb6ac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ebafb6ac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2ebafb6a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CMS-система для медиа-портала с поддержкой статей, видео и подкастов.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Новикова Наталья Михайловна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Times New Roman"/>
                <a:ea typeface="Times New Roman"/>
                <a:cs typeface="Times New Roman"/>
                <a:sym typeface="Times New Roman"/>
              </a:rPr>
              <a:t>“Разработка IT-продукта”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50" y="3645349"/>
            <a:ext cx="4737925" cy="12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Цели и задачи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Разработать CMS для медиа-портала с высокопроизводительной аналитикой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b="1" sz="20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CRUD для контента (статьи, видео, подкасты)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Внедрить Redis для кэширования и real-time аналитики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Обеспечить безопасность через JWT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Достичь покрытия тестами ≥80%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7" name="Google Shape;67;p14" title="Generated Image December 22, 2025 - 1_47AM.png"/>
          <p:cNvPicPr preferRelativeResize="0"/>
          <p:nvPr/>
        </p:nvPicPr>
        <p:blipFill rotWithShape="1">
          <a:blip r:embed="rId3">
            <a:alphaModFix/>
          </a:blip>
          <a:srcRect b="0" l="7889" r="71464" t="0"/>
          <a:stretch/>
        </p:blipFill>
        <p:spPr>
          <a:xfrm>
            <a:off x="6814000" y="2696725"/>
            <a:ext cx="1887975" cy="2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Обоснование технологий (Java + Redis)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952500" y="1259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{B62D90C8-00FB-41F6-AA1B-CAA7EC962E17}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Технология</a:t>
                      </a:r>
                      <a:endParaRPr b="1" sz="18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Почему выбрана</a:t>
                      </a:r>
                      <a:endParaRPr b="1" sz="18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 17 + Spring Boot 3	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Промышленный стандарт, экосистема, </a:t>
                      </a: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безопасность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PostgreSQL	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Надежная</a:t>
                      </a: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СУБД для хранения контента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Redis	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In-memory скорость, структуры данных (INCR, ZSET, SET)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Docker	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Изоляция, воспроизводимость окружения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5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Функциональные требования к системе</a:t>
            </a:r>
            <a:endParaRPr b="0" sz="365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/ авторизация пользователей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CRUD операции для статей, видео, подкастов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Подсчет просмотров в реальном времени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Топ популярного контента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AutoNum type="arabicPeriod"/>
            </a:pPr>
            <a:r>
              <a:rPr lang="en-GB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Персональные рекомендации</a:t>
            </a:r>
            <a:endParaRPr sz="2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2" name="Google Shape;82;p16" title="Generated Image December 22, 2025 - 1_47AM.png"/>
          <p:cNvPicPr preferRelativeResize="0"/>
          <p:nvPr/>
        </p:nvPicPr>
        <p:blipFill rotWithShape="1">
          <a:blip r:embed="rId3">
            <a:alphaModFix/>
          </a:blip>
          <a:srcRect b="0" l="37260" r="37944" t="0"/>
          <a:stretch/>
        </p:blipFill>
        <p:spPr>
          <a:xfrm>
            <a:off x="6427075" y="2669225"/>
            <a:ext cx="2267301" cy="2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5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Неф</a:t>
            </a:r>
            <a:r>
              <a:rPr b="0" lang="en-GB" sz="365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ункциональные требования к системе</a:t>
            </a:r>
            <a:endParaRPr b="0" sz="365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33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0" lang="en-GB" sz="2200">
                <a:latin typeface="Times New Roman"/>
                <a:ea typeface="Times New Roman"/>
                <a:cs typeface="Times New Roman"/>
                <a:sym typeface="Times New Roman"/>
              </a:rPr>
              <a:t>Время отклика API &lt; 100ms (благодаря Redis)</a:t>
            </a:r>
            <a:endParaRPr b="0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33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0" lang="en-GB" sz="2200">
                <a:latin typeface="Times New Roman"/>
                <a:ea typeface="Times New Roman"/>
                <a:cs typeface="Times New Roman"/>
                <a:sym typeface="Times New Roman"/>
              </a:rPr>
              <a:t>Горизонтальное масштабирование</a:t>
            </a:r>
            <a:endParaRPr b="0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33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0" lang="en-GB" sz="2200">
                <a:latin typeface="Times New Roman"/>
                <a:ea typeface="Times New Roman"/>
                <a:cs typeface="Times New Roman"/>
                <a:sym typeface="Times New Roman"/>
              </a:rPr>
              <a:t>Атомарность операций счётчиков</a:t>
            </a:r>
            <a:endParaRPr b="0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33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0" lang="en-GB" sz="2200">
                <a:latin typeface="Times New Roman"/>
                <a:ea typeface="Times New Roman"/>
                <a:cs typeface="Times New Roman"/>
                <a:sym typeface="Times New Roman"/>
              </a:rPr>
              <a:t>Покрытие тестами ≥80%</a:t>
            </a:r>
            <a:endParaRPr b="0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9" name="Google Shape;89;p17" title="Generated Image December 22, 2025 - 1_47AM.png"/>
          <p:cNvPicPr preferRelativeResize="0"/>
          <p:nvPr/>
        </p:nvPicPr>
        <p:blipFill rotWithShape="1">
          <a:blip r:embed="rId3">
            <a:alphaModFix/>
          </a:blip>
          <a:srcRect b="0" l="71512" r="6299" t="0"/>
          <a:stretch/>
        </p:blipFill>
        <p:spPr>
          <a:xfrm>
            <a:off x="6679525" y="2635500"/>
            <a:ext cx="2028874" cy="23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и дизайн системы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60625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Классическая 3-tier с выделенным слоем безопасности</a:t>
            </a:r>
            <a:endParaRPr b="1">
              <a:solidFill>
                <a:schemeClr val="accen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97" name="Google Shape;97;p18"/>
          <p:cNvGraphicFramePr/>
          <p:nvPr/>
        </p:nvGraphicFramePr>
        <p:xfrm>
          <a:off x="424225" y="192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{B62D90C8-00FB-41F6-AA1B-CAA7EC962E17}</a:tableStyleId>
              </a:tblPr>
              <a:tblGrid>
                <a:gridCol w="2735975"/>
                <a:gridCol w="2735975"/>
              </a:tblGrid>
              <a:tr h="39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Слой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Назначение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rgbClr val="274E1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Controller</a:t>
                      </a:r>
                      <a:endParaRPr b="1" sz="1600">
                        <a:solidFill>
                          <a:srgbClr val="274E1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 API, Валидация запросов, маршрутизация 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rgbClr val="274E1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</a:t>
                      </a:r>
                      <a:endParaRPr b="1" sz="1600">
                        <a:solidFill>
                          <a:srgbClr val="274E1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Бизнес - логика, транзакции, кеширование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rgbClr val="274E1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Repository</a:t>
                      </a:r>
                      <a:endParaRPr b="1" sz="1600">
                        <a:solidFill>
                          <a:srgbClr val="274E1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Абстракция доступа к данным (JPA)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p18"/>
          <p:cNvSpPr txBox="1"/>
          <p:nvPr/>
        </p:nvSpPr>
        <p:spPr>
          <a:xfrm>
            <a:off x="6087150" y="1780422"/>
            <a:ext cx="2488800" cy="26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данных:</a:t>
            </a:r>
            <a:endParaRPr b="1"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imes New Roman"/>
              <a:buAutoNum type="arabicPeriod"/>
            </a:pPr>
            <a:r>
              <a:rPr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— основное хранилище (контент, пользователи)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imes New Roman"/>
              <a:buAutoNum type="arabicPeriod"/>
            </a:pPr>
            <a:r>
              <a:rPr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— кэш + real-time аналитика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Безопасность:</a:t>
            </a:r>
            <a:endParaRPr b="1"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imes New Roman"/>
              <a:buAutoNum type="arabicPeriod"/>
            </a:pPr>
            <a:r>
              <a:rPr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токены (stateless аутентификация)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imes New Roman"/>
              <a:buAutoNum type="arabicPeriod"/>
            </a:pPr>
            <a:r>
              <a:rPr lang="en-GB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Security фильтры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19" title="JWT-Secured Microservice-2025-12-21-2326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625" y="152400"/>
            <a:ext cx="656268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11449"/>
          <a:stretch/>
        </p:blipFill>
        <p:spPr>
          <a:xfrm>
            <a:off x="1133250" y="750900"/>
            <a:ext cx="4284874" cy="428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Generated Image December 22, 2025 - 1_47AM.png"/>
          <p:cNvPicPr preferRelativeResize="0"/>
          <p:nvPr/>
        </p:nvPicPr>
        <p:blipFill rotWithShape="1">
          <a:blip r:embed="rId4">
            <a:alphaModFix/>
          </a:blip>
          <a:srcRect b="0" l="7889" r="71464" t="0"/>
          <a:stretch/>
        </p:blipFill>
        <p:spPr>
          <a:xfrm>
            <a:off x="6814000" y="2696725"/>
            <a:ext cx="1887975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title"/>
          </p:nvPr>
        </p:nvSpPr>
        <p:spPr>
          <a:xfrm>
            <a:off x="7711" y="-3033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 проекта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 Redis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750" y="1093850"/>
            <a:ext cx="5550912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 (JWT + Spring Security)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работает:</a:t>
            </a:r>
            <a:endParaRPr b="1" sz="8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Логин → получаем JWT токен</a:t>
            </a:r>
            <a:endParaRPr sz="8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Запрос → отправляем токен в заголовке Authorization: Bearer</a:t>
            </a:r>
            <a:endParaRPr sz="8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Сервер → проверяет подпись и срок действия</a:t>
            </a:r>
            <a:endParaRPr sz="8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975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4672600" y="1217025"/>
            <a:ext cx="40818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Что защищено: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✅ Создание/редактирование контента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✅ Удаление данных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🌍 Чтение — публичное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3297"/>
          <a:stretch/>
        </p:blipFill>
        <p:spPr>
          <a:xfrm>
            <a:off x="22775" y="1138625"/>
            <a:ext cx="9143998" cy="36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228675"/>
            <a:ext cx="85206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3" name="Google Shape;143;p24"/>
          <p:cNvGraphicFramePr/>
          <p:nvPr/>
        </p:nvGraphicFramePr>
        <p:xfrm>
          <a:off x="392775" y="131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{B62D90C8-00FB-41F6-AA1B-CAA7EC962E17}</a:tableStyleId>
              </a:tblPr>
              <a:tblGrid>
                <a:gridCol w="2117750"/>
                <a:gridCol w="1698200"/>
              </a:tblGrid>
              <a:tr h="37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rgbClr val="274E13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Всего тестов</a:t>
                      </a:r>
                      <a:endParaRPr b="1" sz="1900">
                        <a:solidFill>
                          <a:srgbClr val="274E13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</a:t>
                      </a:r>
                      <a:endParaRPr sz="2300">
                        <a:solidFill>
                          <a:schemeClr val="accent1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rgbClr val="274E13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Пройдено</a:t>
                      </a:r>
                      <a:endParaRPr b="1" sz="1900">
                        <a:solidFill>
                          <a:srgbClr val="274E13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187 - 100%</a:t>
                      </a:r>
                      <a:endParaRPr sz="1900">
                        <a:solidFill>
                          <a:schemeClr val="accent1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rgbClr val="274E13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Покрытие кода</a:t>
                      </a:r>
                      <a:endParaRPr b="1" sz="1900">
                        <a:solidFill>
                          <a:srgbClr val="274E13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~84% строк</a:t>
                      </a:r>
                      <a:endParaRPr sz="1900">
                        <a:solidFill>
                          <a:schemeClr val="accent1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rgbClr val="274E13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Классов покрыто</a:t>
                      </a:r>
                      <a:endParaRPr b="1" sz="1900">
                        <a:solidFill>
                          <a:srgbClr val="274E13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1900">
                        <a:solidFill>
                          <a:schemeClr val="accent1"/>
                        </a:solidFill>
                        <a:highlight>
                          <a:schemeClr val="lt1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24"/>
          <p:cNvSpPr txBox="1"/>
          <p:nvPr/>
        </p:nvSpPr>
        <p:spPr>
          <a:xfrm>
            <a:off x="4470775" y="1350725"/>
            <a:ext cx="42597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Типы тестов:</a:t>
            </a:r>
            <a:endParaRPr b="1" sz="18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AutoNum type="arabicPeriod"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Unit-тесты сервисов — ArticleService, VideoService, PodcastService, AuthService, AnalyticsService, RecommendationService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AutoNum type="arabicPeriod"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Тесты контроллеров — с MockMvc (интеграционные)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AutoNum type="arabicPeriod"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Тесты безопасности — JWT, аутентификация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AutoNum type="arabicPeriod"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Тесты обработки ошибок — GlobalExceptionHandler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23150" y="3183050"/>
            <a:ext cx="3816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Инструменты:</a:t>
            </a:r>
            <a:endParaRPr b="1" sz="18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JUnit 5 — фреймворк тестирования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Mockito — моки зависимостей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 Test — тесты контроллеров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JaCoCo — отчёт о покрытии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725" y="4120375"/>
            <a:ext cx="4685575" cy="4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5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Развертывание и использование</a:t>
            </a:r>
            <a:endParaRPr b="0" sz="365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5944"/>
          <a:stretch/>
        </p:blipFill>
        <p:spPr>
          <a:xfrm>
            <a:off x="2032850" y="1123775"/>
            <a:ext cx="4836599" cy="37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и оценка результатов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0" name="Google Shape;160;p26"/>
          <p:cNvGraphicFramePr/>
          <p:nvPr/>
        </p:nvGraphicFramePr>
        <p:xfrm>
          <a:off x="311700" y="122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{B62D90C8-00FB-41F6-AA1B-CAA7EC962E17}</a:tableStyleId>
              </a:tblPr>
              <a:tblGrid>
                <a:gridCol w="2413000"/>
                <a:gridCol w="1419975"/>
                <a:gridCol w="140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Метритка</a:t>
                      </a:r>
                      <a:endParaRPr b="1" sz="18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Результат</a:t>
                      </a:r>
                      <a:endParaRPr b="1" sz="18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Цель</a:t>
                      </a:r>
                      <a:endParaRPr b="1" sz="18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Покрытие тестами</a:t>
                      </a:r>
                      <a:endParaRPr sz="1600" u="sng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84%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≥80%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тестов</a:t>
                      </a:r>
                      <a:endParaRPr sz="1600" u="sng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 классов</a:t>
                      </a:r>
                      <a:endParaRPr sz="1600" u="sng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 endpoints</a:t>
                      </a:r>
                      <a:endParaRPr sz="1600" u="sng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20+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sng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Время сборки Docker</a:t>
                      </a:r>
                      <a:endParaRPr sz="1600" u="sng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 сек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6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26"/>
          <p:cNvSpPr txBox="1"/>
          <p:nvPr/>
        </p:nvSpPr>
        <p:spPr>
          <a:xfrm>
            <a:off x="5702100" y="1245400"/>
            <a:ext cx="33192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реализовано:</a:t>
            </a:r>
            <a:endParaRPr b="1"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CRUD API — статьи, видео, подкасты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аналитика — Redis INCR, ZSET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Рекомендации — топ контента по просмотрам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аутентификация — stateless безопасность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Кэширование — @Cacheable с Redis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AutoNum type="arabicPeriod"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Контейнеризация — Docker + Docker Compose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351900" y="3936725"/>
            <a:ext cx="4000500" cy="1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Производительность Redis:</a:t>
            </a:r>
            <a:endParaRPr b="1"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 — O(1), атомарность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ZSET — O(log N), сортировка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TTL — автоочистка через 1 час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можно было улучшить</a:t>
            </a:r>
            <a:endParaRPr b="0" sz="330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1118" l="0" r="0" t="10142"/>
          <a:stretch/>
        </p:blipFill>
        <p:spPr>
          <a:xfrm>
            <a:off x="480300" y="1116975"/>
            <a:ext cx="7992150" cy="38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4877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